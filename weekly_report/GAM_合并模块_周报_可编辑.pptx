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eb9f24271d43e5" /><Relationship Type="http://schemas.openxmlformats.org/officeDocument/2006/relationships/extended-properties" Target="/docProps/app.xml" Id="R7b8e1b47f55b42f0" /><Relationship Type="http://schemas.openxmlformats.org/officeDocument/2006/relationships/officeDocument" Target="/ppt/presentation.xml" Id="R29388c11b84144e3" /></Relationships>
</file>

<file path=ppt/presentation.xml><?xml version="1.0" encoding="utf-8"?>
<p:presentation xmlns:p="http://schemas.openxmlformats.org/presentationml/2006/main">
  <p:sldMasterIdLst>
    <p:sldMasterId xmlns:r="http://schemas.openxmlformats.org/officeDocument/2006/relationships" id="2147483648" r:id="Rfa14efa095554ea7"/>
  </p:sldMasterIdLst>
  <p:notesMasterIdLst>
    <p:notesMasterId xmlns:r="http://schemas.openxmlformats.org/officeDocument/2006/relationships" r:id="R404ecde638b34889"/>
  </p:notesMasterIdLst>
  <p:sldIdLst>
    <p:sldId xmlns:r="http://schemas.openxmlformats.org/officeDocument/2006/relationships" id="256" r:id="Re12d263919ac40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a8bbbddcbc4e15" /><Relationship Type="http://schemas.openxmlformats.org/officeDocument/2006/relationships/slideMaster" Target="/ppt/slideMasters/slideMaster1.xml" Id="Rfa14efa095554ea7" /><Relationship Type="http://schemas.openxmlformats.org/officeDocument/2006/relationships/notesMaster" Target="/ppt/notesMasters/notesMaster1.xml" Id="R404ecde638b34889" /><Relationship Type="http://schemas.openxmlformats.org/officeDocument/2006/relationships/presProps" Target="/ppt/presProps.xml" Id="Redb94c59501f4275" /><Relationship Type="http://schemas.openxmlformats.org/officeDocument/2006/relationships/tableStyles" Target="/ppt/tableStyles.xml" Id="Rd74a6f273e40479b" /><Relationship Type="http://schemas.openxmlformats.org/officeDocument/2006/relationships/slide" Target="/ppt/slides/slide1.xml" Id="Re12d263919ac40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b4f18efb5e44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cc2d10c45049ed" /><Relationship Type="http://schemas.openxmlformats.org/officeDocument/2006/relationships/notesMaster" Target="/ppt/notesMasters/notesMaster1.xml" Id="R20cd81d15ae449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本地实现：model_gam.py（GAM_SACB_Net 前向路径）</a:t>
            </a:r>
          </a:p>
          <a:p xmlns:a="http://schemas.openxmlformats.org/drawingml/2006/main">
            <a:r>
              <a:t>- 本地实现：gaussian_anatomy.py（高斯 Token、UOT、栅格化）</a:t>
            </a:r>
          </a:p>
          <a:p xmlns:a="http://schemas.openxmlformats.org/drawingml/2006/main">
            <a:r>
              <a:t>- 本地实现：geometry_conditioned_registration.py（门控融合与残差）</a:t>
            </a:r>
          </a:p>
          <a:p xmlns:a="http://schemas.openxmlformats.org/drawingml/2006/main">
            <a:r>
              <a:t>- 本地实现：SACB1.py（几何条件化 SACB 与 cross_Sim）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686cf5a34d4e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51a8cb9d4c4baa" /><Relationship Type="http://schemas.openxmlformats.org/officeDocument/2006/relationships/slideLayout" Target="/ppt/slideLayouts/slideLayout1.xml" Id="R48bdd726eeb547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bdd726eeb547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225a6b08e24403" /><Relationship Type="http://schemas.openxmlformats.org/officeDocument/2006/relationships/notesSlide" Target="/ppt/notesSlides/notesSlide1.xml" Id="Reba2face27c34358" /></Relationships>
</file>

<file path=ppt/slides/slide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2" name="slide-title">
            <a:extLst xmlns:a="http://schemas.openxmlformats.org/drawingml/2006/main">
              <a:ext uri="{FF2B5EF4-FFF2-40B4-BE49-F238E27FC236}">
                <a16:creationId xmlns:a16="http://schemas.microsoft.com/office/drawing/2014/main" id="{2A80C396-3B6C-4642-A2D5-C8E02359E235}"/>
              </a:ext>
            </a:extLst>
          </p:cNvPr>
          <p:cNvSpPr>
            <a:spLocks xmlns:a="http://schemas.openxmlformats.org/drawingml/2006/main" noGrp="1"/>
          </p:cNvSpPr>
          <p:nvPr/>
        </p:nvSpPr>
        <p:spPr>
          <a:xfrm xmlns:a="http://schemas.openxmlformats.org/drawingml/2006/main">
            <a:off x="533400" y="219075"/>
            <a:ext cx="828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13233A"/>
                </a:solidFill>
              </a:defRPr>
            </a:pPr>
            <a:r>
              <a:rPr sz="3450" b="1">
                <a:solidFill>
                  <a:srgbClr val="13233A"/>
                </a:solidFill>
              </a:rPr>
              <a:t>统一高斯解剖引导配准模块（GAM）</a:t>
            </a:r>
          </a:p>
        </p:txBody>
      </p:sp>
      <p:sp>
        <p:nvSpPr>
          <p:cNvPr id="2" name="slide-subtitle">
            <a:extLst xmlns:a="http://schemas.openxmlformats.org/drawingml/2006/main">
              <a:ext uri="{FF2B5EF4-FFF2-40B4-BE49-F238E27FC236}">
                <a16:creationId xmlns:a16="http://schemas.microsoft.com/office/drawing/2014/main" id="{50F60534-3607-4A09-ACC3-53A87837E910}"/>
              </a:ext>
            </a:extLst>
          </p:cNvPr>
          <p:cNvSpPr>
            <a:spLocks xmlns:a="http://schemas.openxmlformats.org/drawingml/2006/main" noGrp="1"/>
          </p:cNvSpPr>
          <p:nvPr/>
        </p:nvSpPr>
        <p:spPr>
          <a:xfrm xmlns:a="http://schemas.openxmlformats.org/drawingml/2006/main">
            <a:off x="552450" y="7239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D6B7E"/>
                </a:solidFill>
              </a:defRPr>
            </a:pPr>
            <a:r>
              <a:rPr sz="1575" b="0">
                <a:solidFill>
                  <a:srgbClr val="5D6B7E"/>
                </a:solidFill>
              </a:rPr>
              <a:t>把高斯解剖对应与几何条件化稠密配准合并为一个端到端粗到细单元</a:t>
            </a:r>
          </a:p>
        </p:txBody>
      </p:sp>
      <p:sp>
        <p:nvSpPr>
          <p:cNvPr id="3" name="gam-module-frame">
            <a:extLst xmlns:a="http://schemas.openxmlformats.org/drawingml/2006/main">
              <a:ext uri="{FF2B5EF4-FFF2-40B4-BE49-F238E27FC236}">
                <a16:creationId xmlns:a16="http://schemas.microsoft.com/office/drawing/2014/main" id="{2B49E01B-3716-4CA5-9C7F-807D3AB5F67C}"/>
              </a:ext>
            </a:extLst>
          </p:cNvPr>
          <p:cNvSpPr>
            <a:spLocks xmlns:a="http://schemas.openxmlformats.org/drawingml/2006/main" noGrp="1"/>
          </p:cNvSpPr>
          <p:nvPr/>
        </p:nvSpPr>
        <p:spPr>
          <a:xfrm xmlns:a="http://schemas.openxmlformats.org/drawingml/2006/main">
            <a:off x="457200" y="1162050"/>
            <a:ext cx="11277600" cy="50292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4288">
            <a:solidFill>
              <a:srgbClr val="AAB8CA"/>
            </a:solidFill>
            <a:prstDash val="solid"/>
          </a:ln>
        </p:spPr>
      </p:sp>
      <p:sp>
        <p:nvSpPr>
          <p:cNvPr id="4" name="global-geometry-zone">
            <a:extLst xmlns:a="http://schemas.openxmlformats.org/drawingml/2006/main">
              <a:ext uri="{FF2B5EF4-FFF2-40B4-BE49-F238E27FC236}">
                <a16:creationId xmlns:a16="http://schemas.microsoft.com/office/drawing/2014/main" id="{4C738173-B0D8-4A8D-B98B-C9BBF3699AC9}"/>
              </a:ext>
            </a:extLst>
          </p:cNvPr>
          <p:cNvSpPr>
            <a:spLocks xmlns:a="http://schemas.openxmlformats.org/drawingml/2006/main" noGrp="1"/>
          </p:cNvSpPr>
          <p:nvPr/>
        </p:nvSpPr>
        <p:spPr>
          <a:xfrm xmlns:a="http://schemas.openxmlformats.org/drawingml/2006/main">
            <a:off x="2038350" y="1581150"/>
            <a:ext cx="7162800" cy="1943100"/>
          </a:xfrm>
          <a:prstGeom xmlns:a="http://schemas.openxmlformats.org/drawingml/2006/main" prst="roundRect">
            <a:avLst>
              <a:gd name="adj" fmla="val 5882"/>
            </a:avLst>
          </a:prstGeom>
          <a:solidFill xmlns:a="http://schemas.openxmlformats.org/drawingml/2006/main">
            <a:srgbClr val="E6F5F3"/>
          </a:solidFill>
          <a:ln xmlns:a="http://schemas.openxmlformats.org/drawingml/2006/main" w="11430">
            <a:solidFill>
              <a:srgbClr val="A8D8D3"/>
            </a:solidFill>
            <a:prstDash val="solid"/>
          </a:ln>
        </p:spPr>
      </p:sp>
      <p:sp>
        <p:nvSpPr>
          <p:cNvPr id="5" name="local-dense-zone">
            <a:extLst xmlns:a="http://schemas.openxmlformats.org/drawingml/2006/main">
              <a:ext uri="{FF2B5EF4-FFF2-40B4-BE49-F238E27FC236}">
                <a16:creationId xmlns:a16="http://schemas.microsoft.com/office/drawing/2014/main" id="{876BF48A-52AC-407A-8CBA-5BB24236B2AF}"/>
              </a:ext>
            </a:extLst>
          </p:cNvPr>
          <p:cNvSpPr>
            <a:spLocks xmlns:a="http://schemas.openxmlformats.org/drawingml/2006/main" noGrp="1"/>
          </p:cNvSpPr>
          <p:nvPr/>
        </p:nvSpPr>
        <p:spPr>
          <a:xfrm xmlns:a="http://schemas.openxmlformats.org/drawingml/2006/main">
            <a:off x="2038350" y="3714750"/>
            <a:ext cx="7162800" cy="1771650"/>
          </a:xfrm>
          <a:prstGeom xmlns:a="http://schemas.openxmlformats.org/drawingml/2006/main" prst="roundRect">
            <a:avLst>
              <a:gd name="adj" fmla="val 6452"/>
            </a:avLst>
          </a:prstGeom>
          <a:solidFill xmlns:a="http://schemas.openxmlformats.org/drawingml/2006/main">
            <a:srgbClr val="EAF1FB"/>
          </a:solidFill>
          <a:ln xmlns:a="http://schemas.openxmlformats.org/drawingml/2006/main" w="11430">
            <a:solidFill>
              <a:srgbClr val="B9CFEC"/>
            </a:solidFill>
            <a:prstDash val="solid"/>
          </a:ln>
        </p:spPr>
      </p:sp>
      <p:sp>
        <p:nvSpPr>
          <p:cNvPr id="6" name="fusion-zone">
            <a:extLst xmlns:a="http://schemas.openxmlformats.org/drawingml/2006/main">
              <a:ext uri="{FF2B5EF4-FFF2-40B4-BE49-F238E27FC236}">
                <a16:creationId xmlns:a16="http://schemas.microsoft.com/office/drawing/2014/main" id="{64156D6E-02CB-4B32-B795-F6E4FD84AED6}"/>
              </a:ext>
            </a:extLst>
          </p:cNvPr>
          <p:cNvSpPr>
            <a:spLocks xmlns:a="http://schemas.openxmlformats.org/drawingml/2006/main" noGrp="1"/>
          </p:cNvSpPr>
          <p:nvPr/>
        </p:nvSpPr>
        <p:spPr>
          <a:xfrm xmlns:a="http://schemas.openxmlformats.org/drawingml/2006/main">
            <a:off x="9353550" y="1581150"/>
            <a:ext cx="2143125" cy="4400550"/>
          </a:xfrm>
          <a:prstGeom xmlns:a="http://schemas.openxmlformats.org/drawingml/2006/main" prst="roundRect">
            <a:avLst>
              <a:gd name="adj" fmla="val 5333"/>
            </a:avLst>
          </a:prstGeom>
          <a:solidFill xmlns:a="http://schemas.openxmlformats.org/drawingml/2006/main">
            <a:srgbClr val="FFF0E5"/>
          </a:solidFill>
          <a:ln xmlns:a="http://schemas.openxmlformats.org/drawingml/2006/main" w="13335">
            <a:solidFill>
              <a:srgbClr val="F0B184"/>
            </a:solidFill>
            <a:prstDash val="solid"/>
          </a:ln>
        </p:spPr>
      </p:sp>
      <p:sp>
        <p:nvSpPr>
          <p:cNvPr id="7" name="deployment-tag">
            <a:extLst xmlns:a="http://schemas.openxmlformats.org/drawingml/2006/main">
              <a:ext uri="{FF2B5EF4-FFF2-40B4-BE49-F238E27FC236}">
                <a16:creationId xmlns:a16="http://schemas.microsoft.com/office/drawing/2014/main" id="{9BD4C6B6-FAFF-4523-9AB7-D34FA9F8120F}"/>
              </a:ext>
            </a:extLst>
          </p:cNvPr>
          <p:cNvSpPr>
            <a:spLocks xmlns:a="http://schemas.openxmlformats.org/drawingml/2006/main" noGrp="1"/>
          </p:cNvSpPr>
          <p:nvPr/>
        </p:nvSpPr>
        <p:spPr>
          <a:xfrm xmlns:a="http://schemas.openxmlformats.org/drawingml/2006/main">
            <a:off x="7867650" y="1257300"/>
            <a:ext cx="354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a:solidFill>
                  <a:srgbClr val="5D6B7E"/>
                </a:solidFill>
              </a:defRPr>
            </a:pPr>
            <a:r>
              <a:rPr sz="1275" b="1">
                <a:solidFill>
                  <a:srgbClr val="5D6B7E"/>
                </a:solidFill>
              </a:rPr>
              <a:t>L5：128 tokens  ｜  L4：192 tokens</a:t>
            </a:r>
          </a:p>
        </p:txBody>
      </p:sp>
      <p:sp>
        <p:nvSpPr>
          <p:cNvPr id="8" name="global-label">
            <a:extLst xmlns:a="http://schemas.openxmlformats.org/drawingml/2006/main">
              <a:ext uri="{FF2B5EF4-FFF2-40B4-BE49-F238E27FC236}">
                <a16:creationId xmlns:a16="http://schemas.microsoft.com/office/drawing/2014/main" id="{10D2762C-F49E-4A8F-B999-994D75B4F881}"/>
              </a:ext>
            </a:extLst>
          </p:cNvPr>
          <p:cNvSpPr>
            <a:spLocks xmlns:a="http://schemas.openxmlformats.org/drawingml/2006/main" noGrp="1"/>
          </p:cNvSpPr>
          <p:nvPr/>
        </p:nvSpPr>
        <p:spPr>
          <a:xfrm xmlns:a="http://schemas.openxmlformats.org/drawingml/2006/main">
            <a:off x="2209800" y="16573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096C70"/>
                </a:solidFill>
              </a:defRPr>
            </a:pPr>
            <a:r>
              <a:rPr sz="1650" b="1">
                <a:solidFill>
                  <a:srgbClr val="096C70"/>
                </a:solidFill>
              </a:rPr>
              <a:t>① 全局高斯解剖建模与匹配</a:t>
            </a:r>
          </a:p>
        </p:txBody>
      </p:sp>
      <p:sp>
        <p:nvSpPr>
          <p:cNvPr id="9" name="local-label">
            <a:extLst xmlns:a="http://schemas.openxmlformats.org/drawingml/2006/main">
              <a:ext uri="{FF2B5EF4-FFF2-40B4-BE49-F238E27FC236}">
                <a16:creationId xmlns:a16="http://schemas.microsoft.com/office/drawing/2014/main" id="{357563E3-9880-4244-BA9C-EBA20F494171}"/>
              </a:ext>
            </a:extLst>
          </p:cNvPr>
          <p:cNvSpPr>
            <a:spLocks xmlns:a="http://schemas.openxmlformats.org/drawingml/2006/main" noGrp="1"/>
          </p:cNvSpPr>
          <p:nvPr/>
        </p:nvSpPr>
        <p:spPr>
          <a:xfrm xmlns:a="http://schemas.openxmlformats.org/drawingml/2006/main">
            <a:off x="2209800" y="37909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45899"/>
                </a:solidFill>
              </a:defRPr>
            </a:pPr>
            <a:r>
              <a:rPr sz="1650" b="1">
                <a:solidFill>
                  <a:srgbClr val="245899"/>
                </a:solidFill>
              </a:rPr>
              <a:t>② 局部稠密对应估计</a:t>
            </a:r>
          </a:p>
        </p:txBody>
      </p:sp>
      <p:sp>
        <p:nvSpPr>
          <p:cNvPr id="10" name="fusion-label">
            <a:extLst xmlns:a="http://schemas.openxmlformats.org/drawingml/2006/main">
              <a:ext uri="{FF2B5EF4-FFF2-40B4-BE49-F238E27FC236}">
                <a16:creationId xmlns:a16="http://schemas.microsoft.com/office/drawing/2014/main" id="{991F39B3-30DC-4542-8462-779855B93623}"/>
              </a:ext>
            </a:extLst>
          </p:cNvPr>
          <p:cNvSpPr>
            <a:spLocks xmlns:a="http://schemas.openxmlformats.org/drawingml/2006/main" noGrp="1"/>
          </p:cNvSpPr>
          <p:nvPr/>
        </p:nvSpPr>
        <p:spPr>
          <a:xfrm xmlns:a="http://schemas.openxmlformats.org/drawingml/2006/main">
            <a:off x="9486900" y="1685925"/>
            <a:ext cx="1857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B9571D"/>
                </a:solidFill>
              </a:defRPr>
            </a:pPr>
            <a:r>
              <a:rPr sz="1650" b="1">
                <a:solidFill>
                  <a:srgbClr val="B9571D"/>
                </a:solidFill>
              </a:rPr>
              <a:t>③ 门控融合</a:t>
            </a:r>
          </a:p>
          <a:p xmlns:a="http://schemas.openxmlformats.org/drawingml/2006/main">
            <a:pPr algn="ctr">
              <a:defRPr sz="1650" b="1">
                <a:solidFill>
                  <a:srgbClr val="B9571D"/>
                </a:solidFill>
              </a:defRPr>
            </a:pPr>
            <a:r>
              <a:rPr sz="1650" b="1">
                <a:solidFill>
                  <a:srgbClr val="B9571D"/>
                </a:solidFill>
              </a:rPr>
              <a:t>④ 残差校正</a:t>
            </a:r>
          </a:p>
        </p:txBody>
      </p:sp>
      <p:sp>
        <p:nvSpPr>
          <p:cNvPr id="11" name="moving-feature">
            <a:extLst xmlns:a="http://schemas.openxmlformats.org/drawingml/2006/main">
              <a:ext uri="{FF2B5EF4-FFF2-40B4-BE49-F238E27FC236}">
                <a16:creationId xmlns:a16="http://schemas.microsoft.com/office/drawing/2014/main" id="{40B7B771-15AF-4013-8C38-214C22E542EA}"/>
              </a:ext>
            </a:extLst>
          </p:cNvPr>
          <p:cNvSpPr>
            <a:spLocks xmlns:a="http://schemas.openxmlformats.org/drawingml/2006/main" noGrp="1"/>
          </p:cNvSpPr>
          <p:nvPr/>
        </p:nvSpPr>
        <p:spPr>
          <a:xfrm xmlns:a="http://schemas.openxmlformats.org/drawingml/2006/main">
            <a:off x="666750" y="2038350"/>
            <a:ext cx="1162050" cy="742950"/>
          </a:xfrm>
          <a:prstGeom xmlns:a="http://schemas.openxmlformats.org/drawingml/2006/main" prst="roundRect">
            <a:avLst>
              <a:gd name="adj" fmla="val 15385"/>
            </a:avLst>
          </a:prstGeom>
          <a:solidFill xmlns:a="http://schemas.openxmlformats.org/drawingml/2006/main">
            <a:srgbClr val="EEF4FC"/>
          </a:solidFill>
          <a:ln xmlns:a="http://schemas.openxmlformats.org/drawingml/2006/main" w="17145">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45899"/>
                </a:solidFill>
              </a:defRPr>
            </a:pPr>
            <a:r>
              <a:rPr sz="1725" b="1">
                <a:solidFill>
                  <a:srgbClr val="245899"/>
                </a:solidFill>
              </a:rPr>
              <a:t>移动特征</a:t>
            </a:r>
          </a:p>
          <a:p xmlns:a="http://schemas.openxmlformats.org/drawingml/2006/main">
            <a:pPr algn="ctr">
              <a:defRPr sz="1725" b="1">
                <a:solidFill>
                  <a:srgbClr val="245899"/>
                </a:solidFill>
              </a:defRPr>
            </a:pPr>
            <a:r>
              <a:rPr sz="1725" b="1">
                <a:solidFill>
                  <a:srgbClr val="245899"/>
                </a:solidFill>
              </a:rPr>
              <a:t>Fₘ</a:t>
            </a:r>
          </a:p>
        </p:txBody>
      </p:sp>
      <p:sp>
        <p:nvSpPr>
          <p:cNvPr id="12" name="fixed-feature">
            <a:extLst xmlns:a="http://schemas.openxmlformats.org/drawingml/2006/main">
              <a:ext uri="{FF2B5EF4-FFF2-40B4-BE49-F238E27FC236}">
                <a16:creationId xmlns:a16="http://schemas.microsoft.com/office/drawing/2014/main" id="{58EBAA3C-7726-4F8D-934D-3E42BEE6F639}"/>
              </a:ext>
            </a:extLst>
          </p:cNvPr>
          <p:cNvSpPr>
            <a:spLocks xmlns:a="http://schemas.openxmlformats.org/drawingml/2006/main" noGrp="1"/>
          </p:cNvSpPr>
          <p:nvPr/>
        </p:nvSpPr>
        <p:spPr>
          <a:xfrm xmlns:a="http://schemas.openxmlformats.org/drawingml/2006/main">
            <a:off x="666750" y="3905250"/>
            <a:ext cx="1162050" cy="742950"/>
          </a:xfrm>
          <a:prstGeom xmlns:a="http://schemas.openxmlformats.org/drawingml/2006/main" prst="roundRect">
            <a:avLst>
              <a:gd name="adj" fmla="val 15385"/>
            </a:avLst>
          </a:prstGeom>
          <a:solidFill xmlns:a="http://schemas.openxmlformats.org/drawingml/2006/main">
            <a:srgbClr val="EEF4FC"/>
          </a:solidFill>
          <a:ln xmlns:a="http://schemas.openxmlformats.org/drawingml/2006/main" w="17145">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45899"/>
                </a:solidFill>
              </a:defRPr>
            </a:pPr>
            <a:r>
              <a:rPr sz="1725" b="1">
                <a:solidFill>
                  <a:srgbClr val="245899"/>
                </a:solidFill>
              </a:rPr>
              <a:t>固定特征</a:t>
            </a:r>
          </a:p>
          <a:p xmlns:a="http://schemas.openxmlformats.org/drawingml/2006/main">
            <a:pPr algn="ctr">
              <a:defRPr sz="1725" b="1">
                <a:solidFill>
                  <a:srgbClr val="245899"/>
                </a:solidFill>
              </a:defRPr>
            </a:pPr>
            <a:r>
              <a:rPr sz="1725" b="1">
                <a:solidFill>
                  <a:srgbClr val="245899"/>
                </a:solidFill>
              </a:rPr>
              <a:t>F𝒻</a:t>
            </a:r>
          </a:p>
        </p:txBody>
      </p:sp>
      <p:sp>
        <p:nvSpPr>
          <p:cNvPr id="13" name="shared-input-caption">
            <a:extLst xmlns:a="http://schemas.openxmlformats.org/drawingml/2006/main">
              <a:ext uri="{FF2B5EF4-FFF2-40B4-BE49-F238E27FC236}">
                <a16:creationId xmlns:a16="http://schemas.microsoft.com/office/drawing/2014/main" id="{69EC6C43-A52D-470B-A8A6-8A8E8045391A}"/>
              </a:ext>
            </a:extLst>
          </p:cNvPr>
          <p:cNvSpPr>
            <a:spLocks xmlns:a="http://schemas.openxmlformats.org/drawingml/2006/main" noGrp="1"/>
          </p:cNvSpPr>
          <p:nvPr/>
        </p:nvSpPr>
        <p:spPr>
          <a:xfrm xmlns:a="http://schemas.openxmlformats.org/drawingml/2006/main">
            <a:off x="590550" y="48577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5D6B7E"/>
                </a:solidFill>
              </a:defRPr>
            </a:pPr>
            <a:r>
              <a:rPr sz="1350" b="0">
                <a:solidFill>
                  <a:srgbClr val="5D6B7E"/>
                </a:solidFill>
              </a:rPr>
              <a:t>同尺度双分支特征</a:t>
            </a:r>
          </a:p>
          <a:p xmlns:a="http://schemas.openxmlformats.org/drawingml/2006/main">
            <a:pPr algn="ctr">
              <a:defRPr sz="1350" b="0">
                <a:solidFill>
                  <a:srgbClr val="5D6B7E"/>
                </a:solidFill>
              </a:defRPr>
            </a:pPr>
            <a:r>
              <a:rPr sz="1350" b="0">
                <a:solidFill>
                  <a:srgbClr val="5D6B7E"/>
                </a:solidFill>
              </a:rPr>
              <a:t>（共享编码器）</a:t>
            </a:r>
          </a:p>
        </p:txBody>
      </p:sp>
      <p:sp>
        <p:nvSpPr>
          <p:cNvPr id="14" name="shared-gaussian-tokenizer">
            <a:extLst xmlns:a="http://schemas.openxmlformats.org/drawingml/2006/main">
              <a:ext uri="{FF2B5EF4-FFF2-40B4-BE49-F238E27FC236}">
                <a16:creationId xmlns:a16="http://schemas.microsoft.com/office/drawing/2014/main" id="{DE3388E1-6635-4012-B94C-F5AB340D42BD}"/>
              </a:ext>
            </a:extLst>
          </p:cNvPr>
          <p:cNvSpPr>
            <a:spLocks xmlns:a="http://schemas.openxmlformats.org/drawingml/2006/main" noGrp="1"/>
          </p:cNvSpPr>
          <p:nvPr/>
        </p:nvSpPr>
        <p:spPr>
          <a:xfrm xmlns:a="http://schemas.openxmlformats.org/drawingml/2006/main">
            <a:off x="2305050" y="2095500"/>
            <a:ext cx="146685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19050">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96C70"/>
                </a:solidFill>
              </a:defRPr>
            </a:pPr>
            <a:r>
              <a:rPr sz="1500" b="1">
                <a:solidFill>
                  <a:srgbClr val="096C70"/>
                </a:solidFill>
              </a:rPr>
              <a:t>共享各向异性</a:t>
            </a:r>
          </a:p>
          <a:p xmlns:a="http://schemas.openxmlformats.org/drawingml/2006/main">
            <a:pPr algn="ctr">
              <a:defRPr sz="1500" b="1">
                <a:solidFill>
                  <a:srgbClr val="096C70"/>
                </a:solidFill>
              </a:defRPr>
            </a:pPr>
            <a:r>
              <a:rPr sz="1500" b="1">
                <a:solidFill>
                  <a:srgbClr val="096C70"/>
                </a:solidFill>
              </a:rPr>
              <a:t>高斯 Tokenizer</a:t>
            </a:r>
          </a:p>
          <a:p xmlns:a="http://schemas.openxmlformats.org/drawingml/2006/main">
            <a:pPr algn="ctr">
              <a:defRPr sz="1500" b="1">
                <a:solidFill>
                  <a:srgbClr val="096C70"/>
                </a:solidFill>
              </a:defRPr>
            </a:pPr>
            <a:r>
              <a:rPr sz="1500" b="1">
                <a:solidFill>
                  <a:srgbClr val="096C70"/>
                </a:solidFill>
              </a:rPr>
              <a:t>μ · Σ · f · a · v</a:t>
            </a:r>
          </a:p>
        </p:txBody>
      </p:sp>
      <p:sp>
        <p:nvSpPr>
          <p:cNvPr id="15" name="multi-source-cost">
            <a:extLst xmlns:a="http://schemas.openxmlformats.org/drawingml/2006/main">
              <a:ext uri="{FF2B5EF4-FFF2-40B4-BE49-F238E27FC236}">
                <a16:creationId xmlns:a16="http://schemas.microsoft.com/office/drawing/2014/main" id="{4DCAC1F8-95A9-4677-B381-2405A4E03305}"/>
              </a:ext>
            </a:extLst>
          </p:cNvPr>
          <p:cNvSpPr>
            <a:spLocks xmlns:a="http://schemas.openxmlformats.org/drawingml/2006/main" noGrp="1"/>
          </p:cNvSpPr>
          <p:nvPr/>
        </p:nvSpPr>
        <p:spPr>
          <a:xfrm xmlns:a="http://schemas.openxmlformats.org/drawingml/2006/main">
            <a:off x="4114800" y="2000250"/>
            <a:ext cx="16764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9050">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96C70"/>
                </a:solidFill>
              </a:defRPr>
            </a:pPr>
            <a:r>
              <a:rPr sz="1425" b="1">
                <a:solidFill>
                  <a:srgbClr val="096C70"/>
                </a:solidFill>
              </a:rPr>
              <a:t>多源匹配代价 C</a:t>
            </a:r>
          </a:p>
          <a:p xmlns:a="http://schemas.openxmlformats.org/drawingml/2006/main">
            <a:pPr algn="ctr">
              <a:defRPr sz="1425" b="1">
                <a:solidFill>
                  <a:srgbClr val="096C70"/>
                </a:solidFill>
              </a:defRPr>
            </a:pPr>
            <a:r>
              <a:rPr sz="1425" b="1">
                <a:solidFill>
                  <a:srgbClr val="096C70"/>
                </a:solidFill>
              </a:rPr>
              <a:t>特征 + 位置</a:t>
            </a:r>
          </a:p>
          <a:p xmlns:a="http://schemas.openxmlformats.org/drawingml/2006/main">
            <a:pPr algn="ctr">
              <a:defRPr sz="1425" b="1">
                <a:solidFill>
                  <a:srgbClr val="096C70"/>
                </a:solidFill>
              </a:defRPr>
            </a:pPr>
            <a:r>
              <a:rPr sz="1425" b="1">
                <a:solidFill>
                  <a:srgbClr val="096C70"/>
                </a:solidFill>
              </a:rPr>
              <a:t>协方差 + 解剖类型</a:t>
            </a:r>
          </a:p>
          <a:p xmlns:a="http://schemas.openxmlformats.org/drawingml/2006/main">
            <a:pPr algn="ctr">
              <a:defRPr sz="1425" b="1">
                <a:solidFill>
                  <a:srgbClr val="096C70"/>
                </a:solidFill>
              </a:defRPr>
            </a:pPr>
            <a:r>
              <a:rPr sz="1425" b="1">
                <a:solidFill>
                  <a:srgbClr val="096C70"/>
                </a:solidFill>
              </a:rPr>
              <a:t>+ 可见性</a:t>
            </a:r>
          </a:p>
        </p:txBody>
      </p:sp>
      <p:sp>
        <p:nvSpPr>
          <p:cNvPr id="16" name="unbalanced-sinkhorn">
            <a:extLst xmlns:a="http://schemas.openxmlformats.org/drawingml/2006/main">
              <a:ext uri="{FF2B5EF4-FFF2-40B4-BE49-F238E27FC236}">
                <a16:creationId xmlns:a16="http://schemas.microsoft.com/office/drawing/2014/main" id="{1E2405F9-99F6-49AE-AB90-253CCB6D6580}"/>
              </a:ext>
            </a:extLst>
          </p:cNvPr>
          <p:cNvSpPr>
            <a:spLocks xmlns:a="http://schemas.openxmlformats.org/drawingml/2006/main" noGrp="1"/>
          </p:cNvSpPr>
          <p:nvPr/>
        </p:nvSpPr>
        <p:spPr>
          <a:xfrm xmlns:a="http://schemas.openxmlformats.org/drawingml/2006/main">
            <a:off x="6134100" y="2095500"/>
            <a:ext cx="135255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19050">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96C70"/>
                </a:solidFill>
              </a:defRPr>
            </a:pPr>
            <a:r>
              <a:rPr sz="1500" b="1">
                <a:solidFill>
                  <a:srgbClr val="096C70"/>
                </a:solidFill>
              </a:rPr>
              <a:t>可见性感知</a:t>
            </a:r>
          </a:p>
          <a:p xmlns:a="http://schemas.openxmlformats.org/drawingml/2006/main">
            <a:pPr algn="ctr">
              <a:defRPr sz="1500" b="1">
                <a:solidFill>
                  <a:srgbClr val="096C70"/>
                </a:solidFill>
              </a:defRPr>
            </a:pPr>
            <a:r>
              <a:rPr sz="1500" b="1">
                <a:solidFill>
                  <a:srgbClr val="096C70"/>
                </a:solidFill>
              </a:rPr>
              <a:t>非平衡 Sinkhorn</a:t>
            </a:r>
          </a:p>
          <a:p xmlns:a="http://schemas.openxmlformats.org/drawingml/2006/main">
            <a:pPr algn="ctr">
              <a:defRPr sz="1500" b="1">
                <a:solidFill>
                  <a:srgbClr val="096C70"/>
                </a:solidFill>
              </a:defRPr>
            </a:pPr>
            <a:r>
              <a:rPr sz="1500" b="1">
                <a:solidFill>
                  <a:srgbClr val="096C70"/>
                </a:solidFill>
              </a:rPr>
              <a:t>传输计划 P</a:t>
            </a:r>
          </a:p>
        </p:txBody>
      </p:sp>
      <p:sp>
        <p:nvSpPr>
          <p:cNvPr id="17" name="anchor-rasterization">
            <a:extLst xmlns:a="http://schemas.openxmlformats.org/drawingml/2006/main">
              <a:ext uri="{FF2B5EF4-FFF2-40B4-BE49-F238E27FC236}">
                <a16:creationId xmlns:a16="http://schemas.microsoft.com/office/drawing/2014/main" id="{A3CA1E28-9CEE-4A6C-892A-47E285F87AA2}"/>
              </a:ext>
            </a:extLst>
          </p:cNvPr>
          <p:cNvSpPr>
            <a:spLocks xmlns:a="http://schemas.openxmlformats.org/drawingml/2006/main" noGrp="1"/>
          </p:cNvSpPr>
          <p:nvPr/>
        </p:nvSpPr>
        <p:spPr>
          <a:xfrm xmlns:a="http://schemas.openxmlformats.org/drawingml/2006/main">
            <a:off x="7810500" y="2000250"/>
            <a:ext cx="12001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9050">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96C70"/>
                </a:solidFill>
              </a:defRPr>
            </a:pPr>
            <a:r>
              <a:rPr sz="1500" b="1">
                <a:solidFill>
                  <a:srgbClr val="096C70"/>
                </a:solidFill>
              </a:rPr>
              <a:t>锚点位移</a:t>
            </a:r>
          </a:p>
          <a:p xmlns:a="http://schemas.openxmlformats.org/drawingml/2006/main">
            <a:pPr algn="ctr">
              <a:defRPr sz="1500" b="1">
                <a:solidFill>
                  <a:srgbClr val="096C70"/>
                </a:solidFill>
              </a:defRPr>
            </a:pPr>
            <a:r>
              <a:rPr sz="1500" b="1">
                <a:solidFill>
                  <a:srgbClr val="096C70"/>
                </a:solidFill>
              </a:rPr>
              <a:t>+ 置信度</a:t>
            </a:r>
          </a:p>
          <a:p xmlns:a="http://schemas.openxmlformats.org/drawingml/2006/main">
            <a:pPr algn="ctr">
              <a:defRPr sz="1500" b="1">
                <a:solidFill>
                  <a:srgbClr val="096C70"/>
                </a:solidFill>
              </a:defRPr>
            </a:pPr>
            <a:r>
              <a:rPr sz="1500" b="1">
                <a:solidFill>
                  <a:srgbClr val="096C70"/>
                </a:solidFill>
              </a:rPr>
              <a:t>高斯核栅格化</a:t>
            </a:r>
          </a:p>
        </p:txBody>
      </p:sp>
      <p:sp>
        <p:nvSpPr>
          <p:cNvPr id="18" name="geometry-context-bus">
            <a:extLst xmlns:a="http://schemas.openxmlformats.org/drawingml/2006/main">
              <a:ext uri="{FF2B5EF4-FFF2-40B4-BE49-F238E27FC236}">
                <a16:creationId xmlns:a16="http://schemas.microsoft.com/office/drawing/2014/main" id="{D82E69E0-AF7A-43C2-8BC2-C65CB939AABF}"/>
              </a:ext>
            </a:extLst>
          </p:cNvPr>
          <p:cNvSpPr>
            <a:spLocks xmlns:a="http://schemas.openxmlformats.org/drawingml/2006/main" noGrp="1"/>
          </p:cNvSpPr>
          <p:nvPr/>
        </p:nvSpPr>
        <p:spPr>
          <a:xfrm xmlns:a="http://schemas.openxmlformats.org/drawingml/2006/main">
            <a:off x="4114800" y="3276600"/>
            <a:ext cx="3371850" cy="361950"/>
          </a:xfrm>
          <a:prstGeom xmlns:a="http://schemas.openxmlformats.org/drawingml/2006/main" prst="roundRect">
            <a:avLst>
              <a:gd name="adj" fmla="val 21053"/>
            </a:avLst>
          </a:prstGeom>
          <a:solidFill xmlns:a="http://schemas.openxmlformats.org/drawingml/2006/main">
            <a:srgbClr val="D4EEEB"/>
          </a:solidFill>
          <a:ln xmlns:a="http://schemas.openxmlformats.org/drawingml/2006/main" w="13335">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96C70"/>
                </a:solidFill>
              </a:defRPr>
            </a:pPr>
            <a:r>
              <a:rPr sz="1275" b="1">
                <a:solidFill>
                  <a:srgbClr val="096C70"/>
                </a:solidFill>
              </a:rPr>
              <a:t>11 通道几何上下文：位移 + 置信度 + 协方差 + 各向异性</a:t>
            </a:r>
          </a:p>
        </p:txBody>
      </p:sp>
      <p:sp>
        <p:nvSpPr>
          <p:cNvPr id="19" name="gaussian-flow">
            <a:extLst xmlns:a="http://schemas.openxmlformats.org/drawingml/2006/main">
              <a:ext uri="{FF2B5EF4-FFF2-40B4-BE49-F238E27FC236}">
                <a16:creationId xmlns:a16="http://schemas.microsoft.com/office/drawing/2014/main" id="{83C8E93F-838F-483E-B8B3-052F0FEF42AD}"/>
              </a:ext>
            </a:extLst>
          </p:cNvPr>
          <p:cNvSpPr>
            <a:spLocks xmlns:a="http://schemas.openxmlformats.org/drawingml/2006/main" noGrp="1"/>
          </p:cNvSpPr>
          <p:nvPr/>
        </p:nvSpPr>
        <p:spPr>
          <a:xfrm xmlns:a="http://schemas.openxmlformats.org/drawingml/2006/main">
            <a:off x="7772400" y="3276600"/>
            <a:ext cx="1257300" cy="361950"/>
          </a:xfrm>
          <a:prstGeom xmlns:a="http://schemas.openxmlformats.org/drawingml/2006/main" prst="roundRect">
            <a:avLst>
              <a:gd name="adj" fmla="val 21053"/>
            </a:avLst>
          </a:prstGeom>
          <a:solidFill xmlns:a="http://schemas.openxmlformats.org/drawingml/2006/main">
            <a:srgbClr val="D4EEEB"/>
          </a:solidFill>
          <a:ln xmlns:a="http://schemas.openxmlformats.org/drawingml/2006/main" w="13335">
            <a:solidFill>
              <a:srgbClr val="0F8B8D"/>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96C70"/>
                </a:solidFill>
              </a:defRPr>
            </a:pPr>
            <a:r>
              <a:rPr sz="1350" b="1">
                <a:solidFill>
                  <a:srgbClr val="096C70"/>
                </a:solidFill>
              </a:rPr>
              <a:t>高斯位移 φᴳ</a:t>
            </a:r>
          </a:p>
        </p:txBody>
      </p:sp>
      <p:sp>
        <p:nvSpPr>
          <p:cNvPr id="20" name="conditioned-sacb">
            <a:extLst xmlns:a="http://schemas.openxmlformats.org/drawingml/2006/main">
              <a:ext uri="{FF2B5EF4-FFF2-40B4-BE49-F238E27FC236}">
                <a16:creationId xmlns:a16="http://schemas.microsoft.com/office/drawing/2014/main" id="{85736BA8-7FA2-4BBB-B037-02FB4456F585}"/>
              </a:ext>
            </a:extLst>
          </p:cNvPr>
          <p:cNvSpPr>
            <a:spLocks xmlns:a="http://schemas.openxmlformats.org/drawingml/2006/main" noGrp="1"/>
          </p:cNvSpPr>
          <p:nvPr/>
        </p:nvSpPr>
        <p:spPr>
          <a:xfrm xmlns:a="http://schemas.openxmlformats.org/drawingml/2006/main">
            <a:off x="2381250" y="4248150"/>
            <a:ext cx="16002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9050">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45899"/>
                </a:solidFill>
              </a:defRPr>
            </a:pPr>
            <a:r>
              <a:rPr sz="1500" b="1">
                <a:solidFill>
                  <a:srgbClr val="245899"/>
                </a:solidFill>
              </a:rPr>
              <a:t>几何条件化 SACB</a:t>
            </a:r>
          </a:p>
          <a:p xmlns:a="http://schemas.openxmlformats.org/drawingml/2006/main">
            <a:pPr algn="ctr">
              <a:defRPr sz="1500" b="1">
                <a:solidFill>
                  <a:srgbClr val="245899"/>
                </a:solidFill>
              </a:defRPr>
            </a:pPr>
            <a:r>
              <a:rPr sz="1500" b="1">
                <a:solidFill>
                  <a:srgbClr val="245899"/>
                </a:solidFill>
              </a:rPr>
              <a:t>自适应空间卷积</a:t>
            </a:r>
          </a:p>
        </p:txBody>
      </p:sp>
      <p:sp>
        <p:nvSpPr>
          <p:cNvPr id="21" name="local-cross-sim">
            <a:extLst xmlns:a="http://schemas.openxmlformats.org/drawingml/2006/main">
              <a:ext uri="{FF2B5EF4-FFF2-40B4-BE49-F238E27FC236}">
                <a16:creationId xmlns:a16="http://schemas.microsoft.com/office/drawing/2014/main" id="{74B78264-3479-4DC3-AB32-B945D5C30F02}"/>
              </a:ext>
            </a:extLst>
          </p:cNvPr>
          <p:cNvSpPr>
            <a:spLocks xmlns:a="http://schemas.openxmlformats.org/drawingml/2006/main" noGrp="1"/>
          </p:cNvSpPr>
          <p:nvPr/>
        </p:nvSpPr>
        <p:spPr>
          <a:xfrm xmlns:a="http://schemas.openxmlformats.org/drawingml/2006/main">
            <a:off x="4362450" y="4248150"/>
            <a:ext cx="14478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9050">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45899"/>
                </a:solidFill>
              </a:defRPr>
            </a:pPr>
            <a:r>
              <a:rPr sz="1500" b="1">
                <a:solidFill>
                  <a:srgbClr val="245899"/>
                </a:solidFill>
              </a:rPr>
              <a:t>局部 cross-Sim</a:t>
            </a:r>
          </a:p>
          <a:p xmlns:a="http://schemas.openxmlformats.org/drawingml/2006/main">
            <a:pPr algn="ctr">
              <a:defRPr sz="1500" b="1">
                <a:solidFill>
                  <a:srgbClr val="245899"/>
                </a:solidFill>
              </a:defRPr>
            </a:pPr>
            <a:r>
              <a:rPr sz="1500" b="1">
                <a:solidFill>
                  <a:srgbClr val="245899"/>
                </a:solidFill>
              </a:rPr>
              <a:t>3×3×3 邻域匹配</a:t>
            </a:r>
          </a:p>
        </p:txBody>
      </p:sp>
      <p:sp>
        <p:nvSpPr>
          <p:cNvPr id="22" name="dense-flow">
            <a:extLst xmlns:a="http://schemas.openxmlformats.org/drawingml/2006/main">
              <a:ext uri="{FF2B5EF4-FFF2-40B4-BE49-F238E27FC236}">
                <a16:creationId xmlns:a16="http://schemas.microsoft.com/office/drawing/2014/main" id="{EF851DC8-F57B-4143-A0C6-AE362068B232}"/>
              </a:ext>
            </a:extLst>
          </p:cNvPr>
          <p:cNvSpPr>
            <a:spLocks xmlns:a="http://schemas.openxmlformats.org/drawingml/2006/main" noGrp="1"/>
          </p:cNvSpPr>
          <p:nvPr/>
        </p:nvSpPr>
        <p:spPr>
          <a:xfrm xmlns:a="http://schemas.openxmlformats.org/drawingml/2006/main">
            <a:off x="6191250" y="4248150"/>
            <a:ext cx="11620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9050">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45899"/>
                </a:solidFill>
              </a:defRPr>
            </a:pPr>
            <a:r>
              <a:rPr sz="1725" b="1">
                <a:solidFill>
                  <a:srgbClr val="245899"/>
                </a:solidFill>
              </a:rPr>
              <a:t>稠密位移</a:t>
            </a:r>
          </a:p>
          <a:p xmlns:a="http://schemas.openxmlformats.org/drawingml/2006/main">
            <a:pPr algn="ctr">
              <a:defRPr sz="1725" b="1">
                <a:solidFill>
                  <a:srgbClr val="245899"/>
                </a:solidFill>
              </a:defRPr>
            </a:pPr>
            <a:r>
              <a:rPr sz="1725" b="1">
                <a:solidFill>
                  <a:srgbClr val="245899"/>
                </a:solidFill>
              </a:rPr>
              <a:t>φᴰ</a:t>
            </a:r>
          </a:p>
        </p:txBody>
      </p:sp>
      <p:sp>
        <p:nvSpPr>
          <p:cNvPr id="23" name="dense-embedding">
            <a:extLst xmlns:a="http://schemas.openxmlformats.org/drawingml/2006/main">
              <a:ext uri="{FF2B5EF4-FFF2-40B4-BE49-F238E27FC236}">
                <a16:creationId xmlns:a16="http://schemas.microsoft.com/office/drawing/2014/main" id="{7239CFAB-898B-464F-809E-F8B2C886BFB2}"/>
              </a:ext>
            </a:extLst>
          </p:cNvPr>
          <p:cNvSpPr>
            <a:spLocks xmlns:a="http://schemas.openxmlformats.org/drawingml/2006/main" noGrp="1"/>
          </p:cNvSpPr>
          <p:nvPr/>
        </p:nvSpPr>
        <p:spPr>
          <a:xfrm xmlns:a="http://schemas.openxmlformats.org/drawingml/2006/main">
            <a:off x="7734300" y="4248150"/>
            <a:ext cx="127635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9050">
            <a:solidFill>
              <a:srgbClr val="2F6BBA"/>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45899"/>
                </a:solidFill>
              </a:defRPr>
            </a:pPr>
            <a:r>
              <a:rPr sz="1425" b="1">
                <a:solidFill>
                  <a:srgbClr val="245899"/>
                </a:solidFill>
              </a:rPr>
              <a:t>稠密分支编码</a:t>
            </a:r>
          </a:p>
          <a:p xmlns:a="http://schemas.openxmlformats.org/drawingml/2006/main">
            <a:pPr algn="ctr">
              <a:defRPr sz="1425" b="1">
                <a:solidFill>
                  <a:srgbClr val="245899"/>
                </a:solidFill>
              </a:defRPr>
            </a:pPr>
            <a:r>
              <a:rPr sz="1425" b="1">
                <a:solidFill>
                  <a:srgbClr val="245899"/>
                </a:solidFill>
              </a:rPr>
              <a:t>[F𝒻,Fₘ,φᴰ]</a:t>
            </a:r>
          </a:p>
        </p:txBody>
      </p:sp>
      <p:sp>
        <p:nvSpPr>
          <p:cNvPr id="24" name="gaussian-embedding">
            <a:extLst xmlns:a="http://schemas.openxmlformats.org/drawingml/2006/main">
              <a:ext uri="{FF2B5EF4-FFF2-40B4-BE49-F238E27FC236}">
                <a16:creationId xmlns:a16="http://schemas.microsoft.com/office/drawing/2014/main" id="{8CB6909B-E7F9-4CBA-9E78-D4FBFE89BED9}"/>
              </a:ext>
            </a:extLst>
          </p:cNvPr>
          <p:cNvSpPr>
            <a:spLocks xmlns:a="http://schemas.openxmlformats.org/drawingml/2006/main" noGrp="1"/>
          </p:cNvSpPr>
          <p:nvPr/>
        </p:nvSpPr>
        <p:spPr>
          <a:xfrm xmlns:a="http://schemas.openxmlformats.org/drawingml/2006/main">
            <a:off x="9477375" y="2305050"/>
            <a:ext cx="876300" cy="9525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E8792E"/>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B9571D"/>
                </a:solidFill>
              </a:defRPr>
            </a:pPr>
            <a:r>
              <a:rPr sz="1200" b="1">
                <a:solidFill>
                  <a:srgbClr val="B9571D"/>
                </a:solidFill>
              </a:rPr>
              <a:t>高斯分支</a:t>
            </a:r>
          </a:p>
          <a:p xmlns:a="http://schemas.openxmlformats.org/drawingml/2006/main">
            <a:pPr algn="ctr">
              <a:defRPr sz="1200" b="1">
                <a:solidFill>
                  <a:srgbClr val="B9571D"/>
                </a:solidFill>
              </a:defRPr>
            </a:pPr>
            <a:r>
              <a:rPr sz="1200" b="1">
                <a:solidFill>
                  <a:srgbClr val="B9571D"/>
                </a:solidFill>
              </a:rPr>
              <a:t>编码</a:t>
            </a:r>
          </a:p>
          <a:p xmlns:a="http://schemas.openxmlformats.org/drawingml/2006/main">
            <a:pPr algn="ctr">
              <a:defRPr sz="1200" b="1">
                <a:solidFill>
                  <a:srgbClr val="B9571D"/>
                </a:solidFill>
              </a:defRPr>
            </a:pPr>
            <a:r>
              <a:rPr sz="1200" b="1">
                <a:solidFill>
                  <a:srgbClr val="B9571D"/>
                </a:solidFill>
              </a:rPr>
              <a:t>φᴳ + 上下文</a:t>
            </a:r>
          </a:p>
        </p:txBody>
      </p:sp>
      <p:sp>
        <p:nvSpPr>
          <p:cNvPr id="25" name="fusion-gate">
            <a:extLst xmlns:a="http://schemas.openxmlformats.org/drawingml/2006/main">
              <a:ext uri="{FF2B5EF4-FFF2-40B4-BE49-F238E27FC236}">
                <a16:creationId xmlns:a16="http://schemas.microsoft.com/office/drawing/2014/main" id="{DFF07E4D-4CEB-470E-A9D8-D0F94C8CB9A3}"/>
              </a:ext>
            </a:extLst>
          </p:cNvPr>
          <p:cNvSpPr>
            <a:spLocks xmlns:a="http://schemas.openxmlformats.org/drawingml/2006/main" noGrp="1"/>
          </p:cNvSpPr>
          <p:nvPr/>
        </p:nvSpPr>
        <p:spPr>
          <a:xfrm xmlns:a="http://schemas.openxmlformats.org/drawingml/2006/main">
            <a:off x="9658350" y="3476625"/>
            <a:ext cx="15240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23813">
            <a:solidFill>
              <a:srgbClr val="E8792E"/>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B9571D"/>
                </a:solidFill>
              </a:defRPr>
            </a:pPr>
            <a:r>
              <a:rPr sz="1200" b="1">
                <a:solidFill>
                  <a:srgbClr val="B9571D"/>
                </a:solidFill>
              </a:rPr>
              <a:t>置信度 / 分歧门控  g</a:t>
            </a:r>
          </a:p>
        </p:txBody>
      </p:sp>
      <p:sp>
        <p:nvSpPr>
          <p:cNvPr id="26" name="dense-embedding-fusion">
            <a:extLst xmlns:a="http://schemas.openxmlformats.org/drawingml/2006/main">
              <a:ext uri="{FF2B5EF4-FFF2-40B4-BE49-F238E27FC236}">
                <a16:creationId xmlns:a16="http://schemas.microsoft.com/office/drawing/2014/main" id="{AA21BDFF-F500-4B7C-B03F-3ECD5293921C}"/>
              </a:ext>
            </a:extLst>
          </p:cNvPr>
          <p:cNvSpPr>
            <a:spLocks xmlns:a="http://schemas.openxmlformats.org/drawingml/2006/main" noGrp="1"/>
          </p:cNvSpPr>
          <p:nvPr/>
        </p:nvSpPr>
        <p:spPr>
          <a:xfrm xmlns:a="http://schemas.openxmlformats.org/drawingml/2006/main">
            <a:off x="10439400" y="2305050"/>
            <a:ext cx="876300" cy="9525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E8792E"/>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B9571D"/>
                </a:solidFill>
              </a:defRPr>
            </a:pPr>
            <a:r>
              <a:rPr sz="1200" b="1">
                <a:solidFill>
                  <a:srgbClr val="B9571D"/>
                </a:solidFill>
              </a:rPr>
              <a:t>稠密分支</a:t>
            </a:r>
          </a:p>
          <a:p xmlns:a="http://schemas.openxmlformats.org/drawingml/2006/main">
            <a:pPr algn="ctr">
              <a:defRPr sz="1200" b="1">
                <a:solidFill>
                  <a:srgbClr val="B9571D"/>
                </a:solidFill>
              </a:defRPr>
            </a:pPr>
            <a:r>
              <a:rPr sz="1200" b="1">
                <a:solidFill>
                  <a:srgbClr val="B9571D"/>
                </a:solidFill>
              </a:rPr>
              <a:t>编码</a:t>
            </a:r>
          </a:p>
          <a:p xmlns:a="http://schemas.openxmlformats.org/drawingml/2006/main">
            <a:pPr algn="ctr">
              <a:defRPr sz="1200" b="1">
                <a:solidFill>
                  <a:srgbClr val="B9571D"/>
                </a:solidFill>
              </a:defRPr>
            </a:pPr>
            <a:r>
              <a:rPr sz="1200" b="1">
                <a:solidFill>
                  <a:srgbClr val="B9571D"/>
                </a:solidFill>
              </a:rPr>
              <a:t>特征 + φᴰ</a:t>
            </a:r>
          </a:p>
        </p:txBody>
      </p:sp>
      <p:sp>
        <p:nvSpPr>
          <p:cNvPr id="27" name="gated-base-flow">
            <a:extLst xmlns:a="http://schemas.openxmlformats.org/drawingml/2006/main">
              <a:ext uri="{FF2B5EF4-FFF2-40B4-BE49-F238E27FC236}">
                <a16:creationId xmlns:a16="http://schemas.microsoft.com/office/drawing/2014/main" id="{4F77DA25-4052-440F-9B89-31E830DBE9FA}"/>
              </a:ext>
            </a:extLst>
          </p:cNvPr>
          <p:cNvSpPr>
            <a:spLocks xmlns:a="http://schemas.openxmlformats.org/drawingml/2006/main" noGrp="1"/>
          </p:cNvSpPr>
          <p:nvPr/>
        </p:nvSpPr>
        <p:spPr>
          <a:xfrm xmlns:a="http://schemas.openxmlformats.org/drawingml/2006/main">
            <a:off x="9525000" y="4210050"/>
            <a:ext cx="1790700" cy="514350"/>
          </a:xfrm>
          <a:prstGeom xmlns:a="http://schemas.openxmlformats.org/drawingml/2006/main" prst="roundRect">
            <a:avLst>
              <a:gd name="adj" fmla="val 22222"/>
            </a:avLst>
          </a:prstGeom>
          <a:solidFill xmlns:a="http://schemas.openxmlformats.org/drawingml/2006/main">
            <a:srgbClr val="FFE4D1"/>
          </a:solidFill>
          <a:ln xmlns:a="http://schemas.openxmlformats.org/drawingml/2006/main" w="17145">
            <a:solidFill>
              <a:srgbClr val="E8792E"/>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B9571D"/>
                </a:solidFill>
              </a:defRPr>
            </a:pPr>
            <a:r>
              <a:rPr sz="1350" b="1">
                <a:solidFill>
                  <a:srgbClr val="B9571D"/>
                </a:solidFill>
              </a:rPr>
              <a:t>基流 = g·φᴳ + (1−g)·φᴰ</a:t>
            </a:r>
          </a:p>
        </p:txBody>
      </p:sp>
      <p:sp>
        <p:nvSpPr>
          <p:cNvPr id="28" name="residual-head">
            <a:extLst xmlns:a="http://schemas.openxmlformats.org/drawingml/2006/main">
              <a:ext uri="{FF2B5EF4-FFF2-40B4-BE49-F238E27FC236}">
                <a16:creationId xmlns:a16="http://schemas.microsoft.com/office/drawing/2014/main" id="{7497E756-4C05-4B67-A9EC-3CAC46A52E3C}"/>
              </a:ext>
            </a:extLst>
          </p:cNvPr>
          <p:cNvSpPr>
            <a:spLocks xmlns:a="http://schemas.openxmlformats.org/drawingml/2006/main" noGrp="1"/>
          </p:cNvSpPr>
          <p:nvPr/>
        </p:nvSpPr>
        <p:spPr>
          <a:xfrm xmlns:a="http://schemas.openxmlformats.org/drawingml/2006/main">
            <a:off x="9525000" y="4857750"/>
            <a:ext cx="17907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7145">
            <a:solidFill>
              <a:srgbClr val="E8792E"/>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B9571D"/>
                </a:solidFill>
              </a:defRPr>
            </a:pPr>
            <a:r>
              <a:rPr sz="1350" b="1">
                <a:solidFill>
                  <a:srgbClr val="B9571D"/>
                </a:solidFill>
              </a:rPr>
              <a:t>残差头  softsign(r)</a:t>
            </a:r>
          </a:p>
        </p:txBody>
      </p:sp>
      <p:sp>
        <p:nvSpPr>
          <p:cNvPr id="29" name="fused-incremental-flow">
            <a:extLst xmlns:a="http://schemas.openxmlformats.org/drawingml/2006/main">
              <a:ext uri="{FF2B5EF4-FFF2-40B4-BE49-F238E27FC236}">
                <a16:creationId xmlns:a16="http://schemas.microsoft.com/office/drawing/2014/main" id="{45E3A352-9F8C-4351-B7AD-F49145C874F9}"/>
              </a:ext>
            </a:extLst>
          </p:cNvPr>
          <p:cNvSpPr>
            <a:spLocks xmlns:a="http://schemas.openxmlformats.org/drawingml/2006/main" noGrp="1"/>
          </p:cNvSpPr>
          <p:nvPr/>
        </p:nvSpPr>
        <p:spPr>
          <a:xfrm xmlns:a="http://schemas.openxmlformats.org/drawingml/2006/main">
            <a:off x="9525000" y="5410200"/>
            <a:ext cx="1790700" cy="533400"/>
          </a:xfrm>
          <a:prstGeom xmlns:a="http://schemas.openxmlformats.org/drawingml/2006/main" prst="roundRect">
            <a:avLst>
              <a:gd name="adj" fmla="val 21429"/>
            </a:avLst>
          </a:prstGeom>
          <a:solidFill xmlns:a="http://schemas.openxmlformats.org/drawingml/2006/main">
            <a:srgbClr val="E8792E"/>
          </a:solidFill>
          <a:ln xmlns:a="http://schemas.openxmlformats.org/drawingml/2006/main" w="17145">
            <a:solidFill>
              <a:srgbClr val="B9571D"/>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融合增量位移 Δφ</a:t>
            </a:r>
          </a:p>
          <a:p xmlns:a="http://schemas.openxmlformats.org/drawingml/2006/main">
            <a:pPr algn="ctr">
              <a:defRPr sz="1350" b="1">
                <a:solidFill>
                  <a:srgbClr val="FFFFFF"/>
                </a:solidFill>
              </a:defRPr>
            </a:pPr>
            <a:r>
              <a:rPr sz="1350" b="1">
                <a:solidFill>
                  <a:srgbClr val="FFFFFF"/>
                </a:solidFill>
              </a:rPr>
              <a:t>→ 粗到细位移复合</a:t>
            </a:r>
          </a:p>
        </p:txBody>
      </p:sp>
      <p:cxnSp>
        <p:nvCxnSpPr>
          <p:cNvPr id="81" name=""/>
          <p:cNvCxnSpPr>
            <a:stCxn xmlns:a="http://schemas.openxmlformats.org/drawingml/2006/main" id="11" idx="3"/>
            <a:endCxn xmlns:a="http://schemas.openxmlformats.org/drawingml/2006/main" id="14" idx="1"/>
          </p:cNvCxnSpPr>
          <p:nvPr/>
        </p:nvCxnSpPr>
        <p:spPr>
          <a:xfrm xmlns:a="http://schemas.openxmlformats.org/drawingml/2006/main">
            <a:off x="1828800" y="2409825"/>
            <a:ext cx="476250" cy="190500"/>
          </a:xfrm>
          <a:prstGeom xmlns:a="http://schemas.openxmlformats.org/drawingml/2006/main" prst="bentConnector3">
            <a:avLst>
              <a:gd name="adj1" fmla="val 50000"/>
            </a:avLst>
          </a:prstGeom>
          <a:ln xmlns:a="http://schemas.openxmlformats.org/drawingml/2006/main" w="19050">
            <a:solidFill>
              <a:srgbClr val="0F8B8D"/>
            </a:solidFill>
            <a:prstDash val="solid"/>
            <a:headEnd type="none" w="med" len="med"/>
            <a:tailEnd type="triangle" w="sm" len="sm"/>
          </a:ln>
        </p:spPr>
      </p:cxnSp>
      <p:cxnSp>
        <p:nvCxnSpPr>
          <p:cNvPr id="82" name=""/>
          <p:cNvCxnSpPr>
            <a:stCxn xmlns:a="http://schemas.openxmlformats.org/drawingml/2006/main" id="12" idx="3"/>
            <a:endCxn xmlns:a="http://schemas.openxmlformats.org/drawingml/2006/main" id="14" idx="1"/>
          </p:cNvCxnSpPr>
          <p:nvPr/>
        </p:nvCxnSpPr>
        <p:spPr>
          <a:xfrm xmlns:a="http://schemas.openxmlformats.org/drawingml/2006/main" flipV="1">
            <a:off x="1828800" y="2600325"/>
            <a:ext cx="476250" cy="1676400"/>
          </a:xfrm>
          <a:prstGeom xmlns:a="http://schemas.openxmlformats.org/drawingml/2006/main" prst="bentConnector3">
            <a:avLst>
              <a:gd name="adj1" fmla="val 50000"/>
            </a:avLst>
          </a:prstGeom>
          <a:ln xmlns:a="http://schemas.openxmlformats.org/drawingml/2006/main" w="19050">
            <a:solidFill>
              <a:srgbClr val="0F8B8D"/>
            </a:solidFill>
            <a:prstDash val="solid"/>
            <a:headEnd type="none" w="med" len="med"/>
            <a:tailEnd type="triangle" w="sm" len="sm"/>
          </a:ln>
        </p:spPr>
      </p:cxnSp>
      <p:cxnSp>
        <p:nvCxnSpPr>
          <p:cNvPr id="83" name=""/>
          <p:cNvCxnSpPr>
            <a:stCxn xmlns:a="http://schemas.openxmlformats.org/drawingml/2006/main" id="14" idx="3"/>
            <a:endCxn xmlns:a="http://schemas.openxmlformats.org/drawingml/2006/main" id="15" idx="1"/>
          </p:cNvCxnSpPr>
          <p:nvPr/>
        </p:nvCxnSpPr>
        <p:spPr>
          <a:xfrm xmlns:a="http://schemas.openxmlformats.org/drawingml/2006/main">
            <a:off x="3771900" y="2600325"/>
            <a:ext cx="342900" cy="0"/>
          </a:xfrm>
          <a:prstGeom xmlns:a="http://schemas.openxmlformats.org/drawingml/2006/main" prst="straightConnector1">
            <a:avLst/>
          </a:prstGeom>
          <a:ln xmlns:a="http://schemas.openxmlformats.org/drawingml/2006/main" w="19050">
            <a:solidFill>
              <a:srgbClr val="0F8B8D"/>
            </a:solidFill>
            <a:prstDash val="solid"/>
            <a:headEnd type="none" w="med" len="med"/>
            <a:tailEnd type="triangle" w="sm" len="sm"/>
          </a:ln>
        </p:spPr>
      </p:cxnSp>
      <p:cxnSp>
        <p:nvCxnSpPr>
          <p:cNvPr id="84" name=""/>
          <p:cNvCxnSpPr>
            <a:stCxn xmlns:a="http://schemas.openxmlformats.org/drawingml/2006/main" id="15" idx="3"/>
            <a:endCxn xmlns:a="http://schemas.openxmlformats.org/drawingml/2006/main" id="16" idx="1"/>
          </p:cNvCxnSpPr>
          <p:nvPr/>
        </p:nvCxnSpPr>
        <p:spPr>
          <a:xfrm xmlns:a="http://schemas.openxmlformats.org/drawingml/2006/main">
            <a:off x="5791200" y="2600325"/>
            <a:ext cx="342900" cy="0"/>
          </a:xfrm>
          <a:prstGeom xmlns:a="http://schemas.openxmlformats.org/drawingml/2006/main" prst="straightConnector1">
            <a:avLst/>
          </a:prstGeom>
          <a:ln xmlns:a="http://schemas.openxmlformats.org/drawingml/2006/main" w="19050">
            <a:solidFill>
              <a:srgbClr val="0F8B8D"/>
            </a:solidFill>
            <a:prstDash val="solid"/>
            <a:headEnd type="none" w="med" len="med"/>
            <a:tailEnd type="triangle" w="sm" len="sm"/>
          </a:ln>
        </p:spPr>
      </p:cxnSp>
      <p:cxnSp>
        <p:nvCxnSpPr>
          <p:cNvPr id="85" name=""/>
          <p:cNvCxnSpPr>
            <a:stCxn xmlns:a="http://schemas.openxmlformats.org/drawingml/2006/main" id="16" idx="3"/>
            <a:endCxn xmlns:a="http://schemas.openxmlformats.org/drawingml/2006/main" id="17" idx="1"/>
          </p:cNvCxnSpPr>
          <p:nvPr/>
        </p:nvCxnSpPr>
        <p:spPr>
          <a:xfrm xmlns:a="http://schemas.openxmlformats.org/drawingml/2006/main">
            <a:off x="7486650" y="2600325"/>
            <a:ext cx="323850" cy="0"/>
          </a:xfrm>
          <a:prstGeom xmlns:a="http://schemas.openxmlformats.org/drawingml/2006/main" prst="straightConnector1">
            <a:avLst/>
          </a:prstGeom>
          <a:ln xmlns:a="http://schemas.openxmlformats.org/drawingml/2006/main" w="19050">
            <a:solidFill>
              <a:srgbClr val="0F8B8D"/>
            </a:solidFill>
            <a:prstDash val="solid"/>
            <a:headEnd type="none" w="med" len="med"/>
            <a:tailEnd type="triangle" w="sm" len="sm"/>
          </a:ln>
        </p:spPr>
      </p:cxnSp>
      <p:cxnSp>
        <p:nvCxnSpPr>
          <p:cNvPr id="86" name=""/>
          <p:cNvCxnSpPr>
            <a:stCxn xmlns:a="http://schemas.openxmlformats.org/drawingml/2006/main" id="17" idx="2"/>
            <a:endCxn xmlns:a="http://schemas.openxmlformats.org/drawingml/2006/main" id="18" idx="0"/>
          </p:cNvCxnSpPr>
          <p:nvPr/>
        </p:nvCxnSpPr>
        <p:spPr>
          <a:xfrm xmlns:a="http://schemas.openxmlformats.org/drawingml/2006/main" flipH="1">
            <a:off x="5800725" y="3200400"/>
            <a:ext cx="2609850" cy="76200"/>
          </a:xfrm>
          <a:prstGeom xmlns:a="http://schemas.openxmlformats.org/drawingml/2006/main" prst="bentConnector4">
            <a:avLst>
              <a:gd name="adj1" fmla="val 0"/>
              <a:gd name="adj2" fmla="val 50000"/>
            </a:avLst>
          </a:prstGeom>
          <a:ln xmlns:a="http://schemas.openxmlformats.org/drawingml/2006/main" w="19050">
            <a:solidFill>
              <a:srgbClr val="0F8B8D"/>
            </a:solidFill>
            <a:prstDash val="solid"/>
            <a:headEnd type="none" w="med" len="med"/>
            <a:tailEnd type="triangle" w="sm" len="sm"/>
          </a:ln>
        </p:spPr>
      </p:cxnSp>
      <p:cxnSp>
        <p:nvCxnSpPr>
          <p:cNvPr id="87" name=""/>
          <p:cNvCxnSpPr>
            <a:stCxn xmlns:a="http://schemas.openxmlformats.org/drawingml/2006/main" id="17" idx="2"/>
            <a:endCxn xmlns:a="http://schemas.openxmlformats.org/drawingml/2006/main" id="19" idx="0"/>
          </p:cNvCxnSpPr>
          <p:nvPr/>
        </p:nvCxnSpPr>
        <p:spPr>
          <a:xfrm xmlns:a="http://schemas.openxmlformats.org/drawingml/2006/main" flipH="1">
            <a:off x="8401050" y="3200400"/>
            <a:ext cx="9525" cy="76200"/>
          </a:xfrm>
          <a:prstGeom xmlns:a="http://schemas.openxmlformats.org/drawingml/2006/main" prst="straightConnector1">
            <a:avLst/>
          </a:prstGeom>
          <a:ln xmlns:a="http://schemas.openxmlformats.org/drawingml/2006/main" w="19050">
            <a:solidFill>
              <a:srgbClr val="0F8B8D"/>
            </a:solidFill>
            <a:prstDash val="solid"/>
            <a:headEnd type="none" w="med" len="med"/>
            <a:tailEnd type="triangle" w="sm" len="sm"/>
          </a:ln>
        </p:spPr>
      </p:cxnSp>
      <p:cxnSp>
        <p:nvCxnSpPr>
          <p:cNvPr id="88" name=""/>
          <p:cNvCxnSpPr>
            <a:stCxn xmlns:a="http://schemas.openxmlformats.org/drawingml/2006/main" id="11" idx="3"/>
            <a:endCxn xmlns:a="http://schemas.openxmlformats.org/drawingml/2006/main" id="20" idx="1"/>
          </p:cNvCxnSpPr>
          <p:nvPr/>
        </p:nvCxnSpPr>
        <p:spPr>
          <a:xfrm xmlns:a="http://schemas.openxmlformats.org/drawingml/2006/main">
            <a:off x="1828800" y="2409825"/>
            <a:ext cx="552450" cy="2276475"/>
          </a:xfrm>
          <a:prstGeom xmlns:a="http://schemas.openxmlformats.org/drawingml/2006/main" prst="bentConnector3">
            <a:avLst>
              <a:gd name="adj1" fmla="val 50000"/>
            </a:avLst>
          </a:prstGeom>
          <a:ln xmlns:a="http://schemas.openxmlformats.org/drawingml/2006/main" w="19050">
            <a:solidFill>
              <a:srgbClr val="2F6BBA"/>
            </a:solidFill>
            <a:prstDash val="solid"/>
            <a:headEnd type="none" w="med" len="med"/>
            <a:tailEnd type="triangle" w="sm" len="sm"/>
          </a:ln>
        </p:spPr>
      </p:cxnSp>
      <p:cxnSp>
        <p:nvCxnSpPr>
          <p:cNvPr id="89" name=""/>
          <p:cNvCxnSpPr>
            <a:stCxn xmlns:a="http://schemas.openxmlformats.org/drawingml/2006/main" id="12" idx="3"/>
            <a:endCxn xmlns:a="http://schemas.openxmlformats.org/drawingml/2006/main" id="20" idx="1"/>
          </p:cNvCxnSpPr>
          <p:nvPr/>
        </p:nvCxnSpPr>
        <p:spPr>
          <a:xfrm xmlns:a="http://schemas.openxmlformats.org/drawingml/2006/main">
            <a:off x="1828800" y="4276725"/>
            <a:ext cx="552450" cy="409575"/>
          </a:xfrm>
          <a:prstGeom xmlns:a="http://schemas.openxmlformats.org/drawingml/2006/main" prst="bentConnector3">
            <a:avLst>
              <a:gd name="adj1" fmla="val 50000"/>
            </a:avLst>
          </a:prstGeom>
          <a:ln xmlns:a="http://schemas.openxmlformats.org/drawingml/2006/main" w="19050">
            <a:solidFill>
              <a:srgbClr val="2F6BBA"/>
            </a:solidFill>
            <a:prstDash val="solid"/>
            <a:headEnd type="none" w="med" len="med"/>
            <a:tailEnd type="triangle" w="sm" len="sm"/>
          </a:ln>
        </p:spPr>
      </p:cxnSp>
      <p:cxnSp>
        <p:nvCxnSpPr>
          <p:cNvPr id="90" name=""/>
          <p:cNvCxnSpPr>
            <a:stCxn xmlns:a="http://schemas.openxmlformats.org/drawingml/2006/main" id="18" idx="2"/>
            <a:endCxn xmlns:a="http://schemas.openxmlformats.org/drawingml/2006/main" id="20" idx="0"/>
          </p:cNvCxnSpPr>
          <p:nvPr/>
        </p:nvCxnSpPr>
        <p:spPr>
          <a:xfrm xmlns:a="http://schemas.openxmlformats.org/drawingml/2006/main" flipH="1">
            <a:off x="3181350" y="3638550"/>
            <a:ext cx="2619375" cy="609600"/>
          </a:xfrm>
          <a:prstGeom xmlns:a="http://schemas.openxmlformats.org/drawingml/2006/main" prst="bentConnector4">
            <a:avLst>
              <a:gd name="adj1" fmla="val 0"/>
              <a:gd name="adj2" fmla="val 50000"/>
            </a:avLst>
          </a:prstGeom>
          <a:ln xmlns:a="http://schemas.openxmlformats.org/drawingml/2006/main" w="19050">
            <a:solidFill>
              <a:srgbClr val="0F8B8D"/>
            </a:solidFill>
            <a:prstDash val="dash"/>
            <a:headEnd type="none" w="med" len="med"/>
            <a:tailEnd type="triangle" w="sm" len="sm"/>
          </a:ln>
        </p:spPr>
      </p:cxnSp>
      <p:cxnSp>
        <p:nvCxnSpPr>
          <p:cNvPr id="91" name=""/>
          <p:cNvCxnSpPr>
            <a:stCxn xmlns:a="http://schemas.openxmlformats.org/drawingml/2006/main" id="20" idx="3"/>
            <a:endCxn xmlns:a="http://schemas.openxmlformats.org/drawingml/2006/main" id="21" idx="1"/>
          </p:cNvCxnSpPr>
          <p:nvPr/>
        </p:nvCxnSpPr>
        <p:spPr>
          <a:xfrm xmlns:a="http://schemas.openxmlformats.org/drawingml/2006/main">
            <a:off x="3981450" y="4686300"/>
            <a:ext cx="381000" cy="0"/>
          </a:xfrm>
          <a:prstGeom xmlns:a="http://schemas.openxmlformats.org/drawingml/2006/main" prst="straightConnector1">
            <a:avLst/>
          </a:prstGeom>
          <a:ln xmlns:a="http://schemas.openxmlformats.org/drawingml/2006/main" w="19050">
            <a:solidFill>
              <a:srgbClr val="2F6BBA"/>
            </a:solidFill>
            <a:prstDash val="solid"/>
            <a:headEnd type="none" w="med" len="med"/>
            <a:tailEnd type="triangle" w="sm" len="sm"/>
          </a:ln>
        </p:spPr>
      </p:cxnSp>
      <p:cxnSp>
        <p:nvCxnSpPr>
          <p:cNvPr id="92" name=""/>
          <p:cNvCxnSpPr>
            <a:stCxn xmlns:a="http://schemas.openxmlformats.org/drawingml/2006/main" id="21" idx="3"/>
            <a:endCxn xmlns:a="http://schemas.openxmlformats.org/drawingml/2006/main" id="22" idx="1"/>
          </p:cNvCxnSpPr>
          <p:nvPr/>
        </p:nvCxnSpPr>
        <p:spPr>
          <a:xfrm xmlns:a="http://schemas.openxmlformats.org/drawingml/2006/main">
            <a:off x="5810250" y="4686300"/>
            <a:ext cx="381000" cy="0"/>
          </a:xfrm>
          <a:prstGeom xmlns:a="http://schemas.openxmlformats.org/drawingml/2006/main" prst="straightConnector1">
            <a:avLst/>
          </a:prstGeom>
          <a:ln xmlns:a="http://schemas.openxmlformats.org/drawingml/2006/main" w="19050">
            <a:solidFill>
              <a:srgbClr val="2F6BBA"/>
            </a:solidFill>
            <a:prstDash val="solid"/>
            <a:headEnd type="none" w="med" len="med"/>
            <a:tailEnd type="triangle" w="sm" len="sm"/>
          </a:ln>
        </p:spPr>
      </p:cxnSp>
      <p:cxnSp>
        <p:nvCxnSpPr>
          <p:cNvPr id="93" name=""/>
          <p:cNvCxnSpPr>
            <a:stCxn xmlns:a="http://schemas.openxmlformats.org/drawingml/2006/main" id="22" idx="3"/>
            <a:endCxn xmlns:a="http://schemas.openxmlformats.org/drawingml/2006/main" id="23" idx="1"/>
          </p:cNvCxnSpPr>
          <p:nvPr/>
        </p:nvCxnSpPr>
        <p:spPr>
          <a:xfrm xmlns:a="http://schemas.openxmlformats.org/drawingml/2006/main">
            <a:off x="7353300" y="4686300"/>
            <a:ext cx="381000" cy="0"/>
          </a:xfrm>
          <a:prstGeom xmlns:a="http://schemas.openxmlformats.org/drawingml/2006/main" prst="straightConnector1">
            <a:avLst/>
          </a:prstGeom>
          <a:ln xmlns:a="http://schemas.openxmlformats.org/drawingml/2006/main" w="19050">
            <a:solidFill>
              <a:srgbClr val="2F6BBA"/>
            </a:solidFill>
            <a:prstDash val="solid"/>
            <a:headEnd type="none" w="med" len="med"/>
            <a:tailEnd type="triangle" w="sm" len="sm"/>
          </a:ln>
        </p:spPr>
      </p:cxnSp>
      <p:cxnSp>
        <p:nvCxnSpPr>
          <p:cNvPr id="94" name=""/>
          <p:cNvCxnSpPr>
            <a:stCxn xmlns:a="http://schemas.openxmlformats.org/drawingml/2006/main" id="19" idx="3"/>
            <a:endCxn xmlns:a="http://schemas.openxmlformats.org/drawingml/2006/main" id="24" idx="1"/>
          </p:cNvCxnSpPr>
          <p:nvPr/>
        </p:nvCxnSpPr>
        <p:spPr>
          <a:xfrm xmlns:a="http://schemas.openxmlformats.org/drawingml/2006/main" flipV="1">
            <a:off x="9029700" y="2781300"/>
            <a:ext cx="447675" cy="676275"/>
          </a:xfrm>
          <a:prstGeom xmlns:a="http://schemas.openxmlformats.org/drawingml/2006/main" prst="bentConnector3">
            <a:avLst>
              <a:gd name="adj1" fmla="val 50000"/>
            </a:avLst>
          </a:prstGeom>
          <a:ln xmlns:a="http://schemas.openxmlformats.org/drawingml/2006/main" w="19050">
            <a:solidFill>
              <a:srgbClr val="0F8B8D"/>
            </a:solidFill>
            <a:prstDash val="solid"/>
            <a:headEnd type="none" w="med" len="med"/>
            <a:tailEnd type="triangle" w="sm" len="sm"/>
          </a:ln>
        </p:spPr>
      </p:cxnSp>
      <p:cxnSp>
        <p:nvCxnSpPr>
          <p:cNvPr id="95" name=""/>
          <p:cNvCxnSpPr>
            <a:stCxn xmlns:a="http://schemas.openxmlformats.org/drawingml/2006/main" id="18" idx="3"/>
            <a:endCxn xmlns:a="http://schemas.openxmlformats.org/drawingml/2006/main" id="24" idx="1"/>
          </p:cNvCxnSpPr>
          <p:nvPr/>
        </p:nvCxnSpPr>
        <p:spPr>
          <a:xfrm xmlns:a="http://schemas.openxmlformats.org/drawingml/2006/main" flipV="1">
            <a:off x="7486650" y="2781300"/>
            <a:ext cx="1990725" cy="676275"/>
          </a:xfrm>
          <a:prstGeom xmlns:a="http://schemas.openxmlformats.org/drawingml/2006/main" prst="bentConnector3">
            <a:avLst>
              <a:gd name="adj1" fmla="val 50000"/>
            </a:avLst>
          </a:prstGeom>
          <a:ln xmlns:a="http://schemas.openxmlformats.org/drawingml/2006/main" w="19050">
            <a:solidFill>
              <a:srgbClr val="0F8B8D"/>
            </a:solidFill>
            <a:prstDash val="dash"/>
            <a:headEnd type="none" w="med" len="med"/>
            <a:tailEnd type="triangle" w="sm" len="sm"/>
          </a:ln>
        </p:spPr>
      </p:cxnSp>
      <p:cxnSp>
        <p:nvCxnSpPr>
          <p:cNvPr id="96" name=""/>
          <p:cNvCxnSpPr>
            <a:stCxn xmlns:a="http://schemas.openxmlformats.org/drawingml/2006/main" id="23" idx="3"/>
            <a:endCxn xmlns:a="http://schemas.openxmlformats.org/drawingml/2006/main" id="26" idx="1"/>
          </p:cNvCxnSpPr>
          <p:nvPr/>
        </p:nvCxnSpPr>
        <p:spPr>
          <a:xfrm xmlns:a="http://schemas.openxmlformats.org/drawingml/2006/main" flipV="1">
            <a:off x="9010650" y="2781300"/>
            <a:ext cx="1428750" cy="1905000"/>
          </a:xfrm>
          <a:prstGeom xmlns:a="http://schemas.openxmlformats.org/drawingml/2006/main" prst="bentConnector3">
            <a:avLst>
              <a:gd name="adj1" fmla="val 50000"/>
            </a:avLst>
          </a:prstGeom>
          <a:ln xmlns:a="http://schemas.openxmlformats.org/drawingml/2006/main" w="19050">
            <a:solidFill>
              <a:srgbClr val="2F6BBA"/>
            </a:solidFill>
            <a:prstDash val="solid"/>
            <a:headEnd type="none" w="med" len="med"/>
            <a:tailEnd type="triangle" w="sm" len="sm"/>
          </a:ln>
        </p:spPr>
      </p:cxnSp>
      <p:cxnSp>
        <p:nvCxnSpPr>
          <p:cNvPr id="97" name=""/>
          <p:cNvCxnSpPr>
            <a:stCxn xmlns:a="http://schemas.openxmlformats.org/drawingml/2006/main" id="24" idx="2"/>
            <a:endCxn xmlns:a="http://schemas.openxmlformats.org/drawingml/2006/main" id="25" idx="0"/>
          </p:cNvCxnSpPr>
          <p:nvPr/>
        </p:nvCxnSpPr>
        <p:spPr>
          <a:xfrm xmlns:a="http://schemas.openxmlformats.org/drawingml/2006/main">
            <a:off x="9915525" y="3257550"/>
            <a:ext cx="504825" cy="219075"/>
          </a:xfrm>
          <a:prstGeom xmlns:a="http://schemas.openxmlformats.org/drawingml/2006/main" prst="straightConnector1">
            <a:avLst/>
          </a:prstGeom>
          <a:ln xmlns:a="http://schemas.openxmlformats.org/drawingml/2006/main" w="19050">
            <a:solidFill>
              <a:srgbClr val="E8792E"/>
            </a:solidFill>
            <a:prstDash val="solid"/>
            <a:headEnd type="none" w="med" len="med"/>
            <a:tailEnd type="triangle" w="sm" len="sm"/>
          </a:ln>
        </p:spPr>
      </p:cxnSp>
      <p:cxnSp>
        <p:nvCxnSpPr>
          <p:cNvPr id="98" name=""/>
          <p:cNvCxnSpPr>
            <a:stCxn xmlns:a="http://schemas.openxmlformats.org/drawingml/2006/main" id="26" idx="2"/>
            <a:endCxn xmlns:a="http://schemas.openxmlformats.org/drawingml/2006/main" id="25" idx="0"/>
          </p:cNvCxnSpPr>
          <p:nvPr/>
        </p:nvCxnSpPr>
        <p:spPr>
          <a:xfrm xmlns:a="http://schemas.openxmlformats.org/drawingml/2006/main" flipH="1">
            <a:off x="10420350" y="3257550"/>
            <a:ext cx="457200" cy="219075"/>
          </a:xfrm>
          <a:prstGeom xmlns:a="http://schemas.openxmlformats.org/drawingml/2006/main" prst="straightConnector1">
            <a:avLst/>
          </a:prstGeom>
          <a:ln xmlns:a="http://schemas.openxmlformats.org/drawingml/2006/main" w="19050">
            <a:solidFill>
              <a:srgbClr val="E8792E"/>
            </a:solidFill>
            <a:prstDash val="solid"/>
            <a:headEnd type="none" w="med" len="med"/>
            <a:tailEnd type="triangle" w="sm" len="sm"/>
          </a:ln>
        </p:spPr>
      </p:cxnSp>
      <p:cxnSp>
        <p:nvCxnSpPr>
          <p:cNvPr id="99" name=""/>
          <p:cNvCxnSpPr>
            <a:stCxn xmlns:a="http://schemas.openxmlformats.org/drawingml/2006/main" id="18" idx="3"/>
            <a:endCxn xmlns:a="http://schemas.openxmlformats.org/drawingml/2006/main" id="25" idx="1"/>
          </p:cNvCxnSpPr>
          <p:nvPr/>
        </p:nvCxnSpPr>
        <p:spPr>
          <a:xfrm xmlns:a="http://schemas.openxmlformats.org/drawingml/2006/main">
            <a:off x="7486650" y="3457575"/>
            <a:ext cx="2171700" cy="266700"/>
          </a:xfrm>
          <a:prstGeom xmlns:a="http://schemas.openxmlformats.org/drawingml/2006/main" prst="bentConnector3">
            <a:avLst>
              <a:gd name="adj1" fmla="val 50000"/>
            </a:avLst>
          </a:prstGeom>
          <a:ln xmlns:a="http://schemas.openxmlformats.org/drawingml/2006/main" w="19050">
            <a:solidFill>
              <a:srgbClr val="0F8B8D"/>
            </a:solidFill>
            <a:prstDash val="dash"/>
            <a:headEnd type="none" w="med" len="med"/>
            <a:tailEnd type="triangle" w="sm" len="sm"/>
          </a:ln>
        </p:spPr>
      </p:cxnSp>
      <p:cxnSp>
        <p:nvCxnSpPr>
          <p:cNvPr id="100" name=""/>
          <p:cNvCxnSpPr>
            <a:stCxn xmlns:a="http://schemas.openxmlformats.org/drawingml/2006/main" id="25" idx="2"/>
            <a:endCxn xmlns:a="http://schemas.openxmlformats.org/drawingml/2006/main" id="27" idx="0"/>
          </p:cNvCxnSpPr>
          <p:nvPr/>
        </p:nvCxnSpPr>
        <p:spPr>
          <a:xfrm xmlns:a="http://schemas.openxmlformats.org/drawingml/2006/main">
            <a:off x="10420350" y="3971925"/>
            <a:ext cx="0" cy="238125"/>
          </a:xfrm>
          <a:prstGeom xmlns:a="http://schemas.openxmlformats.org/drawingml/2006/main" prst="straightConnector1">
            <a:avLst/>
          </a:prstGeom>
          <a:ln xmlns:a="http://schemas.openxmlformats.org/drawingml/2006/main" w="19050">
            <a:solidFill>
              <a:srgbClr val="E8792E"/>
            </a:solidFill>
            <a:prstDash val="solid"/>
            <a:headEnd type="none" w="med" len="med"/>
            <a:tailEnd type="triangle" w="sm" len="sm"/>
          </a:ln>
        </p:spPr>
      </p:cxnSp>
      <p:cxnSp>
        <p:nvCxnSpPr>
          <p:cNvPr id="101" name=""/>
          <p:cNvCxnSpPr>
            <a:stCxn xmlns:a="http://schemas.openxmlformats.org/drawingml/2006/main" id="27" idx="2"/>
            <a:endCxn xmlns:a="http://schemas.openxmlformats.org/drawingml/2006/main" id="28" idx="0"/>
          </p:cNvCxnSpPr>
          <p:nvPr/>
        </p:nvCxnSpPr>
        <p:spPr>
          <a:xfrm xmlns:a="http://schemas.openxmlformats.org/drawingml/2006/main">
            <a:off x="10420350" y="4724400"/>
            <a:ext cx="0" cy="133350"/>
          </a:xfrm>
          <a:prstGeom xmlns:a="http://schemas.openxmlformats.org/drawingml/2006/main" prst="straightConnector1">
            <a:avLst/>
          </a:prstGeom>
          <a:ln xmlns:a="http://schemas.openxmlformats.org/drawingml/2006/main" w="19050">
            <a:solidFill>
              <a:srgbClr val="E8792E"/>
            </a:solidFill>
            <a:prstDash val="solid"/>
            <a:headEnd type="none" w="med" len="med"/>
            <a:tailEnd type="triangle" w="sm" len="sm"/>
          </a:ln>
        </p:spPr>
      </p:cxnSp>
      <p:cxnSp>
        <p:nvCxnSpPr>
          <p:cNvPr id="102" name=""/>
          <p:cNvCxnSpPr>
            <a:stCxn xmlns:a="http://schemas.openxmlformats.org/drawingml/2006/main" id="28" idx="2"/>
            <a:endCxn xmlns:a="http://schemas.openxmlformats.org/drawingml/2006/main" id="29" idx="0"/>
          </p:cNvCxnSpPr>
          <p:nvPr/>
        </p:nvCxnSpPr>
        <p:spPr>
          <a:xfrm xmlns:a="http://schemas.openxmlformats.org/drawingml/2006/main">
            <a:off x="10420350" y="5276850"/>
            <a:ext cx="0" cy="133350"/>
          </a:xfrm>
          <a:prstGeom xmlns:a="http://schemas.openxmlformats.org/drawingml/2006/main" prst="straightConnector1">
            <a:avLst/>
          </a:prstGeom>
          <a:ln xmlns:a="http://schemas.openxmlformats.org/drawingml/2006/main" w="19050">
            <a:solidFill>
              <a:srgbClr val="E8792E"/>
            </a:solidFill>
            <a:prstDash val="solid"/>
            <a:headEnd type="none" w="med" len="med"/>
            <a:tailEnd type="triangle" w="sm" len="sm"/>
          </a:ln>
        </p:spPr>
      </p:cxnSp>
    </p:spTree>
    <p:extLst>
      <p:ext uri="{BB962C8B-B14F-4D97-AF65-F5344CB8AC3E}">
        <p14:creationId xmlns:p14="http://schemas.microsoft.com/office/powerpoint/2010/main" val="2097968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2026-07-25T04:27:18.6360000Z</dcterms:created>
  <dcterms:modified xsi:type="dcterms:W3CDTF">2026-07-25T04:27:18.6360000Z</dcterms:modified>
</coreProperties>
</file>